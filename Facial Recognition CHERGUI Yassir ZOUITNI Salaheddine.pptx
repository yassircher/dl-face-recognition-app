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ExtraBold"/>
      <p:bold r:id="rId28"/>
      <p:boldItalic r:id="rId29"/>
    </p:embeddedFont>
    <p:embeddedFont>
      <p:font typeface="JetBrains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ExtraBold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bold.fntdata"/><Relationship Id="rId30" Type="http://schemas.openxmlformats.org/officeDocument/2006/relationships/font" Target="fonts/JetBrainsMono-regular.fntdata"/><Relationship Id="rId11" Type="http://schemas.openxmlformats.org/officeDocument/2006/relationships/slide" Target="slides/slide6.xml"/><Relationship Id="rId33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32" Type="http://schemas.openxmlformats.org/officeDocument/2006/relationships/font" Target="fonts/JetBrains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969855d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969855db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969855dbb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969855dbb_1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11" Type="http://schemas.openxmlformats.org/officeDocument/2006/relationships/image" Target="../media/image10.png"/><Relationship Id="rId10" Type="http://schemas.openxmlformats.org/officeDocument/2006/relationships/image" Target="../media/image14.png"/><Relationship Id="rId12" Type="http://schemas.openxmlformats.org/officeDocument/2006/relationships/image" Target="../media/image25.pn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34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11" Type="http://schemas.openxmlformats.org/officeDocument/2006/relationships/image" Target="../media/image18.png"/><Relationship Id="rId10" Type="http://schemas.openxmlformats.org/officeDocument/2006/relationships/image" Target="../media/image20.png"/><Relationship Id="rId12" Type="http://schemas.openxmlformats.org/officeDocument/2006/relationships/image" Target="../media/image31.png"/><Relationship Id="rId9" Type="http://schemas.openxmlformats.org/officeDocument/2006/relationships/image" Target="../media/image26.png"/><Relationship Id="rId5" Type="http://schemas.openxmlformats.org/officeDocument/2006/relationships/image" Target="../media/image38.png"/><Relationship Id="rId6" Type="http://schemas.openxmlformats.org/officeDocument/2006/relationships/image" Target="../media/image44.png"/><Relationship Id="rId7" Type="http://schemas.openxmlformats.org/officeDocument/2006/relationships/image" Target="../media/image50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Relationship Id="rId11" Type="http://schemas.openxmlformats.org/officeDocument/2006/relationships/image" Target="../media/image29.png"/><Relationship Id="rId10" Type="http://schemas.openxmlformats.org/officeDocument/2006/relationships/image" Target="../media/image54.png"/><Relationship Id="rId12" Type="http://schemas.openxmlformats.org/officeDocument/2006/relationships/image" Target="../media/image47.png"/><Relationship Id="rId9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46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Relationship Id="rId5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5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781050"/>
            <a:ext cx="6400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ENTRAÎNEMENT DE RECONNAISSANCE FACIALE MULTI-MODÈLE SUR LFW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1851421"/>
            <a:ext cx="6720840" cy="2681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Évaluation et optimisation d'architectures pour l'inférence vidéo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2320379"/>
            <a:ext cx="4267200" cy="23136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00100" y="5276254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Présenté par : </a:t>
            </a:r>
            <a:r>
              <a:rPr b="1" i="0" lang="en-US" sz="13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Zouitni Salah Eddine, Chergui Yassir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00100" y="5721994"/>
            <a:ext cx="6172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Supervisé par : </a:t>
            </a:r>
            <a:r>
              <a:rPr b="1" i="0" lang="en-US" sz="13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 Ismaili Alaoui El Mehdi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2250" y="381000"/>
            <a:ext cx="1428750" cy="53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4634"/>
            <a:ext cx="5238750" cy="2777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05062"/>
            <a:ext cx="523875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14400" y="2897534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Tâche Principale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914400" y="3288059"/>
            <a:ext cx="4552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3488084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Entraîner des modèles multi-classes pour l'identification faciale sur le dataset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Labeled Faces in the Wild (LFW)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592984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Dataset: 13,000+ images de visages collectées sur le web.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2747962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Défi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724650" y="3138487"/>
            <a:ext cx="4552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724650" y="333851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Identifier la meilleure architecture (Backbone + Head) optimisée pour la vidéo.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724650" y="4138612"/>
            <a:ext cx="45529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724650" y="4338637"/>
            <a:ext cx="455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Contrainte 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Trouver l'équilibre parfait entre </a:t>
            </a:r>
            <a:r>
              <a:rPr b="0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fluidité 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et </a:t>
            </a:r>
            <a:r>
              <a:rPr b="0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précision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926109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776537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Objectifs et Tâche : Vers une Inférence Robuste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03400"/>
            <a:ext cx="5219700" cy="347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401" y="2348957"/>
            <a:ext cx="330844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45227" y="2329900"/>
            <a:ext cx="36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Découplage Architecturel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45219" y="2847975"/>
            <a:ext cx="47650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Séparation distincte entre l'Extracteur de caractéristiques (Backbone) et le Classifieur (Head).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825" y="4010025"/>
            <a:ext cx="27399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88367" y="3971925"/>
            <a:ext cx="3238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Exploration "Cross-Product"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88367" y="4489995"/>
            <a:ext cx="48218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Test exhaustif de chaque combinaison (Backbone × Head) pour isoler la performance individuelle des composants.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Stratégie d'Approche : La Modularité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02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2781300"/>
            <a:ext cx="42862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1897409"/>
            <a:ext cx="55006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 Réseaux Convolutifs (CNNs)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364134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Architecture locale et hiérarchique.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4746887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 Transformers (ViT)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213612"/>
            <a:ext cx="523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Mécanisme d'Attention Globale.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7725" y="2809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52500" y="2809875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ResNet (50</a:t>
            </a: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101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7725" y="3114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3114675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EfficientNet B0, B3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7725" y="338994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338994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MobileNetV3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7959" y="36802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52734" y="368020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ConvNeXt Tiny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47725" y="565935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52500" y="5659352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ViT (Vision Transformer)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47725" y="596415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52500" y="5964152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Swin Transformer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Backbones : CNNs vs. Vision Transformers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850461" y="397023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45263" y="3970233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VGG 16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50370" y="426264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55145" y="4262643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Densenet 121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8409"/>
            <a:ext cx="2547937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278409"/>
            <a:ext cx="2547937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278409"/>
            <a:ext cx="2547937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278409"/>
            <a:ext cx="2547937" cy="332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573684"/>
            <a:ext cx="5524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66775" y="3421409"/>
            <a:ext cx="850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Simple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66775" y="4021484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Couche linéaire unique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66775" y="4916834"/>
            <a:ext cx="1181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Baseline directe.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0462" y="2573684"/>
            <a:ext cx="6286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3700462" y="3421409"/>
            <a:ext cx="5600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MLP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3700462" y="4021484"/>
            <a:ext cx="1447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Activation ReLU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3700462" y="4612034"/>
            <a:ext cx="15430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Non-linéarité ajoutée.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73684"/>
            <a:ext cx="6286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6534150" y="3421409"/>
            <a:ext cx="115014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Attention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534150" y="4021484"/>
            <a:ext cx="12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Self-Attention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534150" y="4612034"/>
            <a:ext cx="1847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Pondération des features.</a:t>
            </a:r>
            <a:endParaRPr/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67837" y="2573684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9367837" y="3421409"/>
            <a:ext cx="109013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CosFace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367837" y="4021484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Marge et Séparabilité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367837" y="4612034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Optimisé pour la reconnaissance faciale.</a:t>
            </a:r>
            <a:endParaRPr/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745134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43337" y="274513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77025" y="274513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10712" y="274513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Têtes de Classification (Heads)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4650" y="2385002"/>
            <a:ext cx="2547933" cy="262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8333" y="2385002"/>
            <a:ext cx="2547933" cy="262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2017" y="2385002"/>
            <a:ext cx="2547933" cy="262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2559925" y="2876558"/>
            <a:ext cx="850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SVM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2559925" y="3370032"/>
            <a:ext cx="1957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(Machines à vecteurs de support avec noyaux RBF et Linéaire)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5393572" y="2805482"/>
            <a:ext cx="1848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Random Forest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227300" y="2781802"/>
            <a:ext cx="1150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XGBoost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Classifieurs classiques</a:t>
            </a: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(Heads)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1200150"/>
            <a:ext cx="11049000" cy="19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5401040" y="3403987"/>
            <a:ext cx="1957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(Forêts aléatoires basées sur des arbres de décision)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230311" y="3390563"/>
            <a:ext cx="1957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(Algorithme optimisé par amplification de gradient)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571500" y="3429000"/>
            <a:ext cx="11049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4805362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3920" y="2471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07968" y="3138487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Raw LFW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571500" y="3624262"/>
            <a:ext cx="25412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Dataset complet initial.</a:t>
            </a:r>
            <a:endParaRPr/>
          </a:p>
        </p:txBody>
      </p:sp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39840" y="2471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3343888" y="3138487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Filtrage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3407419" y="3624262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Min 10 imgs/personne.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Top 100 classes.</a:t>
            </a:r>
            <a:endParaRPr/>
          </a:p>
        </p:txBody>
      </p:sp>
      <p:pic>
        <p:nvPicPr>
          <p:cNvPr descr="image.png" id="214" name="Google Shape;21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75760" y="2471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6179808" y="3138487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Augmentation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243339" y="3624262"/>
            <a:ext cx="25412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Flip, Rotation, Color Jitter.</a:t>
            </a:r>
            <a:endParaRPr/>
          </a:p>
        </p:txBody>
      </p:sp>
      <p:pic>
        <p:nvPicPr>
          <p:cNvPr descr="image.png" id="217" name="Google Shape;21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11680" y="2471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9015728" y="3138487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Set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079259" y="3624262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Données prêtes et balancées.</a:t>
            </a:r>
            <a:endParaRPr/>
          </a:p>
        </p:txBody>
      </p:sp>
      <p:pic>
        <p:nvPicPr>
          <p:cNvPr descr="image.png" id="220" name="Google Shape;22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56320" y="26146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2715" y="26146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04348" y="26146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64080" y="261461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Méthodologie : Préparation des Données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3625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33625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33625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289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866775" y="3476625"/>
            <a:ext cx="23402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Fonctions de Perte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66775" y="40767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CrossEntropyLoss</a:t>
            </a:r>
            <a:endParaRPr/>
          </a:p>
        </p:txBody>
      </p:sp>
      <p:pic>
        <p:nvPicPr>
          <p:cNvPr descr="image.png" id="237" name="Google Shape;23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289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4645074" y="3476625"/>
            <a:ext cx="137017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Optimiseur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645074" y="407670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AdamW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avec Weight Decay pour la régularisation.</a:t>
            </a:r>
            <a:endParaRPr/>
          </a:p>
        </p:txBody>
      </p:sp>
      <p:pic>
        <p:nvPicPr>
          <p:cNvPr descr="image.png" id="240" name="Google Shape;24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289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8423374" y="3476625"/>
            <a:ext cx="102012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Matériel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423374" y="4076700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GPU: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2x NVIDIA T4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423374" y="4429125"/>
            <a:ext cx="229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Parallélisme: DataParallel</a:t>
            </a:r>
            <a:endParaRPr/>
          </a:p>
        </p:txBody>
      </p:sp>
      <p:pic>
        <p:nvPicPr>
          <p:cNvPr descr="image.png" id="244" name="Google Shape;24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800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87949" y="2800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6249" y="28003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Configuration de l'Entraînement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02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2781300"/>
            <a:ext cx="42862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571500" y="2110611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Chargement et Répartition des Données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571500" y="4320483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Configuration d'Entraînement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47725" y="2809875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952500" y="2809875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MIN_IMAGES_PER_PERSON </a:t>
            </a: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: 10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47725" y="3114675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952500" y="3114675"/>
            <a:ext cx="501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MAX_PEOPLE : 100 (Limité aux 100 personnes)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847725" y="338994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952500" y="338994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VAL_SPLIT : 0.2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47959" y="36802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952734" y="368020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SEED : 42 (Pour garantir la reproductibilité).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47725" y="4865766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952500" y="4865766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EPOCHS : 10 par modèle.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847725" y="5170566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952500" y="5170566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BATCH_SIZE : 64 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Les hyperparametres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571500" y="1200150"/>
            <a:ext cx="11049000" cy="19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846146" y="548879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950921" y="548879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IMG_SIZE : 224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56411" y="5830703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961186" y="5830703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LEARNING_RATE = 1e-4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571500" y="49577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Gagnant 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Le modèle vit_b_16_simple offre la meilleure performance globale avec un F1 Score de 0.962.</a:t>
            </a:r>
            <a:endParaRPr/>
          </a:p>
        </p:txBody>
      </p:sp>
      <p:pic>
        <p:nvPicPr>
          <p:cNvPr descr="image.png" id="283" name="Google Shape;2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5850" y="501491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Résultats Quantitatifs : Le Classement</a:t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48187"/>
            <a:ext cx="11049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2162"/>
            <a:ext cx="455295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7550" y="1966912"/>
            <a:ext cx="45529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800100" y="4929187"/>
            <a:ext cx="1062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Interprétation 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Les modèles Vision Transformer surpassent systématiquement les CNNs. Les Transformers capturent des relations globales plus robustes pour l'identification faciale que les convolutions locales.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962025" y="2452687"/>
            <a:ext cx="3771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ViT Best Accuracy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962025" y="2728912"/>
            <a:ext cx="3771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96.31%</a:t>
            </a:r>
            <a:endParaRPr/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450" y="278130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7458075" y="2357437"/>
            <a:ext cx="3771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Gain de Performance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7458075" y="2633662"/>
            <a:ext cx="3771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+7.94%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7458075" y="3490912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vs ResNet50 Baseline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Analyse Comparative: ViT vs. CNN</a:t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2137"/>
            <a:ext cx="52387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62137"/>
            <a:ext cx="52387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571500" y="55292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Observation : La puissance du Backbone (ViT) rend les têtes complexes moins critiques pour cette tâche.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800576" y="2205037"/>
            <a:ext cx="47805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Simple Head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914400" y="2719387"/>
            <a:ext cx="4552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914400" y="330041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96.31%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914400" y="4405312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Efficace avec un Backbone puissant (ViT).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6610826" y="2205037"/>
            <a:ext cx="478059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CosFace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6724650" y="2719387"/>
            <a:ext cx="4552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6724650" y="330041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96.17%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6724650" y="4405312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Maximise la séparabilité, mais plus complexe.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Impact des Têtes de Classification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571500" y="571500"/>
            <a:ext cx="52006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Démonstration en Temps Réel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571500" y="1685925"/>
            <a:ext cx="4953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8" name="Google Shape;3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571500" y="2409825"/>
            <a:ext cx="52006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Scénario d'Inférence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571500" y="3009900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Déploiement d</a:t>
            </a:r>
            <a:r>
              <a:rPr lang="en-US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modèles sur flux vidéo.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571500" y="40957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1. Détection &amp; Suivi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Localisation du visage dans la frame.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571500" y="48958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2. Identification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Extraction du vecteur et classification avec Score de Confiance.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647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71687"/>
            <a:ext cx="52387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2447925"/>
            <a:ext cx="299085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/>
        </p:nvSpPr>
        <p:spPr>
          <a:xfrm>
            <a:off x="6581775" y="2271712"/>
            <a:ext cx="508063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5803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Optimale : vit_b_16_simple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581775" y="2757487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Accuracy : 96.31% | Statut : Validé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6467475" y="36433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6572250" y="36433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L'approche multi-modèle a démontré la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supériorité des Transformers (ViT)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sur LFW.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6467475" y="4348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6572250" y="43481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Robustesse et précision accrues par rapport aux CNNs traditionnels.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6467475" y="5053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6572250" y="50530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Objectif atteint : Solution déployable pour l'inférence vidéo.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Conclusion et Synthèse</a:t>
            </a:r>
            <a:endParaRPr/>
          </a:p>
        </p:txBody>
      </p:sp>
      <p:sp>
        <p:nvSpPr>
          <p:cNvPr id="350" name="Google Shape;350;p26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